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56E511-5A89-4A04-94B3-CF7D6989E580}" v="17" dt="2026-09-09T19:47:55.899"/>
    <p1510:client id="{EAD42AB5-05A0-48BB-8114-42A943F344F6}" v="289" dt="2026-09-09T19:36:29.76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968"/>
        <p:guide pos="408"/>
        <p:guide orient="horz" pos="3912"/>
        <p:guide pos="7272"/>
        <p:guide orient="horz" pos="1656"/>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9.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9.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51270" y="3281988"/>
            <a:ext cx="7957708" cy="1465346"/>
          </a:xfrm>
        </p:spPr>
        <p:txBody>
          <a:bodyPr vert="horz" lIns="91440" tIns="45720" rIns="91440" bIns="45720" rtlCol="0" anchor="t">
            <a:noAutofit/>
          </a:bodyPr>
          <a:lstStyle/>
          <a:p>
            <a:pPr algn="r"/>
            <a:r>
              <a:rPr lang="en-US" sz="2800" b="0">
                <a:solidFill>
                  <a:schemeClr val="tx1"/>
                </a:solidFill>
              </a:rPr>
              <a:t>Student Name: </a:t>
            </a:r>
            <a:r>
              <a:rPr lang="en-US" sz="2400" b="0">
                <a:solidFill>
                  <a:schemeClr val="tx1"/>
                </a:solidFill>
              </a:rPr>
              <a:t>Rachamalla Geethanjali</a:t>
            </a:r>
            <a:r>
              <a:rPr lang="en-US" b="0">
                <a:solidFill>
                  <a:schemeClr val="tx1"/>
                </a:solidFill>
              </a:rPr>
              <a:t>  </a:t>
            </a:r>
            <a:endParaRPr lang="en-IN" b="0">
              <a:solidFill>
                <a:schemeClr val="tx1"/>
              </a:solidFill>
            </a:endParaRPr>
          </a:p>
          <a:p>
            <a:pPr algn="r"/>
            <a:r>
              <a:rPr lang="en-US" sz="2800" b="0">
                <a:solidFill>
                  <a:schemeClr val="tx1"/>
                </a:solidFill>
              </a:rPr>
              <a:t> College Name:</a:t>
            </a:r>
            <a:r>
              <a:rPr lang="en-US" b="0">
                <a:solidFill>
                  <a:schemeClr val="tx1"/>
                </a:solidFill>
              </a:rPr>
              <a:t> </a:t>
            </a:r>
            <a:r>
              <a:rPr lang="en-US" sz="2400" b="0">
                <a:solidFill>
                  <a:schemeClr val="tx1"/>
                </a:solidFill>
              </a:rPr>
              <a:t>Vaageswari College of Engineering</a:t>
            </a:r>
            <a:endParaRPr lang="en-IN" sz="2400" b="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117647" y="2542826"/>
            <a:ext cx="11022831" cy="484656"/>
          </a:xfrm>
        </p:spPr>
        <p:txBody>
          <a:bodyPr>
            <a:noAutofit/>
          </a:bodyPr>
          <a:lstStyle/>
          <a:p>
            <a:r>
              <a:rPr lang="en-GB" sz="3200"/>
              <a:t>Project Title - Seasonal Agriculture Performance Analysis</a:t>
            </a:r>
            <a:endParaRPr lang="en-IN" sz="320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28010" y="4518960"/>
            <a:ext cx="7130135" cy="461665"/>
          </a:xfrm>
          <a:prstGeom prst="rect">
            <a:avLst/>
          </a:prstGeom>
          <a:noFill/>
        </p:spPr>
        <p:txBody>
          <a:bodyPr wrap="square" lIns="91440" tIns="45720" rIns="91440" bIns="45720" rtlCol="0" anchor="t">
            <a:spAutoFit/>
          </a:bodyPr>
          <a:lstStyle/>
          <a:p>
            <a:r>
              <a:rPr lang="en-US" sz="2400" b="1"/>
              <a:t>AICTE STU ID : STU697605d65d8c91769342422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a:t>(</a:t>
            </a:r>
            <a:r>
              <a:rPr lang="en-US" sz="2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a:t>PROBLEM  STATEMENT</a:t>
            </a:r>
            <a:endParaRPr lang="en-IN"/>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45374"/>
          </a:xfrm>
        </p:spPr>
        <p:txBody>
          <a:bodyPr>
            <a:normAutofit fontScale="90000"/>
          </a:bodyPr>
          <a:lstStyle/>
          <a:p>
            <a:r>
              <a:rPr lang="en-GB"/>
              <a:t>Project Description</a:t>
            </a:r>
            <a:br>
              <a:rPr lang="en-GB"/>
            </a:br>
            <a:r>
              <a:rPr lang="en-GB" sz="2400" b="0"/>
              <a:t>This project analyzes agricultural performance across different seasons using a structured dataset.
The analysis covers crop yield, production, revenue, profit, resource usage, irrigation practices and environmental conditions.
Python, Pandas, NumPy, Matplotlib and Seaborn are used for data cleaning, exploration, statistical analysis and visualization.
The objective is to identify seasonal patterns, compare performance, detect unusual observations and support better agricultural planning. </a:t>
            </a:r>
            <a:br>
              <a:rPr lang="en-GB" sz="2400" b="0"/>
            </a:br>
            <a:endParaRPr lang="en-IN" sz="2400" b="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246906" y="1042454"/>
            <a:ext cx="8652102" cy="5370249"/>
          </a:xfrm>
        </p:spPr>
        <p:txBody>
          <a:bodyPr vert="horz" lIns="91440" tIns="45720" rIns="91440" bIns="45720" rtlCol="0" anchor="t">
            <a:normAutofit fontScale="92500" lnSpcReduction="10000"/>
          </a:bodyPr>
          <a:lstStyle/>
          <a:p>
            <a:pPr algn="just">
              <a:buNone/>
            </a:pPr>
            <a:endParaRPr lang="en-IN" sz="2400">
              <a:ea typeface="+mn-lt"/>
              <a:cs typeface="+mn-lt"/>
            </a:endParaRPr>
          </a:p>
          <a:p>
            <a:pPr algn="just">
              <a:buFont typeface="Arial" panose="05000000000000000000" pitchFamily="2" charset="2"/>
              <a:buChar char="•"/>
            </a:pPr>
            <a:r>
              <a:rPr lang="en-IN" sz="2400"/>
              <a:t>Farmers – To select suitable seasons and improve crop productivity.</a:t>
            </a:r>
          </a:p>
          <a:p>
            <a:pPr algn="just">
              <a:buFont typeface="Wingdings" panose="05000000000000000000" pitchFamily="2" charset="2"/>
              <a:buChar char="•"/>
            </a:pPr>
            <a:r>
              <a:rPr lang="en-IN" sz="2400"/>
              <a:t>Agricultural Departments – To monitor seasonal agricultural performance and support planning.</a:t>
            </a:r>
          </a:p>
          <a:p>
            <a:pPr algn="just">
              <a:buFont typeface="Wingdings" panose="05000000000000000000" pitchFamily="2" charset="2"/>
              <a:buChar char="•"/>
            </a:pPr>
            <a:r>
              <a:rPr lang="en-IN" sz="2400"/>
              <a:t>Agricultural Researchers – To </a:t>
            </a:r>
            <a:r>
              <a:rPr lang="en-IN" sz="2400" err="1"/>
              <a:t>analyze</a:t>
            </a:r>
            <a:r>
              <a:rPr lang="en-IN" sz="2400"/>
              <a:t> crop yield and environmental factors.</a:t>
            </a:r>
          </a:p>
          <a:p>
            <a:pPr algn="just">
              <a:buFont typeface="Arial" panose="05000000000000000000" pitchFamily="2" charset="2"/>
              <a:buChar char="•"/>
            </a:pPr>
            <a:r>
              <a:rPr lang="en-IN" sz="2400"/>
              <a:t>Irrigation Authorities – To manage water usage and improve irrigation efficiency.</a:t>
            </a:r>
          </a:p>
          <a:p>
            <a:pPr algn="just">
              <a:buFont typeface="Arial" panose="05000000000000000000" pitchFamily="2" charset="2"/>
              <a:buChar char="•"/>
            </a:pPr>
            <a:r>
              <a:rPr lang="en-IN" sz="2400"/>
              <a:t> Policy Makers – To make data-driven decisions for sustainable agriculture.</a:t>
            </a:r>
          </a:p>
          <a:p>
            <a:pPr algn="just">
              <a:lnSpc>
                <a:spcPct val="150000"/>
              </a:lnSpc>
              <a:buFont typeface="Arial" panose="05000000000000000000" pitchFamily="2" charset="2"/>
              <a:buChar char="•"/>
            </a:pPr>
            <a:r>
              <a:rPr lang="en-IN" sz="2400"/>
              <a:t> Agricultural Finance &amp; Insurance Organizations – To assess crop profitability and agricultural risks.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246197" y="502806"/>
            <a:ext cx="10046070" cy="802641"/>
          </a:xfrm>
        </p:spPr>
        <p:txBody>
          <a:bodyPr>
            <a:normAutofit/>
          </a:bodyPr>
          <a:lstStyle/>
          <a:p>
            <a:r>
              <a:rPr lang="en-US" sz="3200"/>
              <a:t>WHO ARE THE END USERS?</a:t>
            </a:r>
            <a:endParaRPr lang="en-IN" sz="200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2719812" y="7255106"/>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6" end="6"/>
                                            </p:txEl>
                                          </p:spTgt>
                                        </p:tgtEl>
                                        <p:attrNameLst>
                                          <p:attrName>style.visibility</p:attrName>
                                        </p:attrNameLst>
                                      </p:cBhvr>
                                      <p:to>
                                        <p:strVal val="visible"/>
                                      </p:to>
                                    </p:set>
                                    <p:animEffect transition="in" filter="fade">
                                      <p:cBhvr>
                                        <p:cTn id="49" dur="1000"/>
                                        <p:tgtEl>
                                          <p:spTgt spid="2">
                                            <p:txEl>
                                              <p:pRg st="6" end="6"/>
                                            </p:txEl>
                                          </p:spTgt>
                                        </p:tgtEl>
                                      </p:cBhvr>
                                    </p:animEffect>
                                    <p:anim calcmode="lin" valueType="num">
                                      <p:cBhvr>
                                        <p:cTn id="50"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endParaRPr lang="en-IN"/>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a:t>Technology Used</a:t>
            </a:r>
          </a:p>
        </p:txBody>
      </p:sp>
      <p:sp>
        <p:nvSpPr>
          <p:cNvPr id="17" name="TextBox 16"/>
          <p:cNvSpPr txBox="1"/>
          <p:nvPr/>
        </p:nvSpPr>
        <p:spPr>
          <a:xfrm>
            <a:off x="1005840" y="1828800"/>
            <a:ext cx="10058400" cy="3840480"/>
          </a:xfrm>
          <a:prstGeom prst="rect">
            <a:avLst/>
          </a:prstGeom>
          <a:noFill/>
        </p:spPr>
        <p:txBody>
          <a:bodyPr wrap="square">
            <a:spAutoFit/>
          </a:bodyPr>
          <a:lstStyle/>
          <a:p>
            <a:pPr>
              <a:defRPr sz="2200"/>
            </a:pPr>
            <a:r>
              <a:t>• Python</a:t>
            </a:r>
          </a:p>
          <a:p>
            <a:pPr>
              <a:defRPr sz="2200"/>
            </a:pPr>
            <a:r>
              <a:t>• Jupyter Notebook / VS Code</a:t>
            </a:r>
          </a:p>
          <a:p>
            <a:pPr>
              <a:defRPr sz="2200"/>
            </a:pPr>
            <a:r>
              <a:t>• Pandas and NumPy – data handling and analysis</a:t>
            </a:r>
          </a:p>
          <a:p>
            <a:pPr>
              <a:defRPr sz="2200"/>
            </a:pPr>
            <a:r>
              <a:t>• Matplotlib and Seaborn – visualization</a:t>
            </a:r>
          </a:p>
          <a:p>
            <a:pPr>
              <a:defRPr sz="2200"/>
            </a:pPr>
            <a:r>
              <a:t>• Scikit-learn – analytical support</a:t>
            </a:r>
          </a:p>
          <a:p>
            <a:pPr>
              <a:defRPr sz="2200"/>
            </a:pPr>
            <a:r>
              <a:t>• CSV dataset – agricultural performance data</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502920" y="228600"/>
            <a:ext cx="10058400" cy="502920"/>
          </a:xfrm>
          <a:prstGeom prst="rect">
            <a:avLst/>
          </a:prstGeom>
          <a:noFill/>
        </p:spPr>
        <p:txBody>
          <a:bodyPr wrap="none">
            <a:spAutoFit/>
          </a:bodyPr>
          <a:lstStyle/>
          <a:p>
            <a:pPr algn="ctr">
              <a:defRPr sz="2500" b="1"/>
            </a:pPr>
            <a:r>
              <a:t>RESULTS – 1 | Seasonal Yield and Production</a:t>
            </a:r>
          </a:p>
        </p:txBody>
      </p:sp>
      <p:pic>
        <p:nvPicPr>
          <p:cNvPr id="25" name="Picture 24" descr="yield.png"/>
          <p:cNvPicPr>
            <a:picLocks noChangeAspect="1"/>
          </p:cNvPicPr>
          <p:nvPr/>
        </p:nvPicPr>
        <p:blipFill>
          <a:blip r:embed="rId2"/>
          <a:stretch>
            <a:fillRect/>
          </a:stretch>
        </p:blipFill>
        <p:spPr>
          <a:xfrm>
            <a:off x="502920" y="960120"/>
            <a:ext cx="5303520" cy="3200400"/>
          </a:xfrm>
          <a:prstGeom prst="rect">
            <a:avLst/>
          </a:prstGeom>
        </p:spPr>
      </p:pic>
      <p:pic>
        <p:nvPicPr>
          <p:cNvPr id="26" name="Picture 25" descr="production.png"/>
          <p:cNvPicPr>
            <a:picLocks noChangeAspect="1"/>
          </p:cNvPicPr>
          <p:nvPr/>
        </p:nvPicPr>
        <p:blipFill>
          <a:blip r:embed="rId3"/>
          <a:stretch>
            <a:fillRect/>
          </a:stretch>
        </p:blipFill>
        <p:spPr>
          <a:xfrm>
            <a:off x="6080760" y="960120"/>
            <a:ext cx="5303520" cy="3200400"/>
          </a:xfrm>
          <a:prstGeom prst="rect">
            <a:avLst/>
          </a:prstGeom>
        </p:spPr>
      </p:pic>
      <p:sp>
        <p:nvSpPr>
          <p:cNvPr id="27" name="TextBox 26"/>
          <p:cNvSpPr txBox="1"/>
          <p:nvPr/>
        </p:nvSpPr>
        <p:spPr>
          <a:xfrm>
            <a:off x="502920" y="4160520"/>
            <a:ext cx="5303520" cy="320040"/>
          </a:xfrm>
          <a:prstGeom prst="rect">
            <a:avLst/>
          </a:prstGeom>
          <a:noFill/>
        </p:spPr>
        <p:txBody>
          <a:bodyPr wrap="none">
            <a:spAutoFit/>
          </a:bodyPr>
          <a:lstStyle/>
          <a:p>
            <a:pPr algn="ctr">
              <a:defRPr sz="1000" b="1"/>
            </a:pPr>
            <a:r>
              <a:t>Average Agriculture Yield by Season</a:t>
            </a:r>
          </a:p>
        </p:txBody>
      </p:sp>
      <p:sp>
        <p:nvSpPr>
          <p:cNvPr id="28" name="TextBox 27"/>
          <p:cNvSpPr txBox="1"/>
          <p:nvPr/>
        </p:nvSpPr>
        <p:spPr>
          <a:xfrm>
            <a:off x="6080760" y="4160520"/>
            <a:ext cx="5303520" cy="320040"/>
          </a:xfrm>
          <a:prstGeom prst="rect">
            <a:avLst/>
          </a:prstGeom>
          <a:noFill/>
        </p:spPr>
        <p:txBody>
          <a:bodyPr wrap="none">
            <a:spAutoFit/>
          </a:bodyPr>
          <a:lstStyle/>
          <a:p>
            <a:pPr algn="ctr">
              <a:defRPr sz="1000" b="1"/>
            </a:pPr>
            <a:r>
              <a:t>Average Agricultural Production by Season</a:t>
            </a:r>
          </a:p>
        </p:txBody>
      </p:sp>
      <p:sp>
        <p:nvSpPr>
          <p:cNvPr id="29" name="TextBox 28"/>
          <p:cNvSpPr txBox="1"/>
          <p:nvPr/>
        </p:nvSpPr>
        <p:spPr>
          <a:xfrm>
            <a:off x="731520" y="4617720"/>
            <a:ext cx="10058400" cy="1005840"/>
          </a:xfrm>
          <a:prstGeom prst="rect">
            <a:avLst/>
          </a:prstGeom>
          <a:noFill/>
        </p:spPr>
        <p:txBody>
          <a:bodyPr wrap="square">
            <a:spAutoFit/>
          </a:bodyPr>
          <a:lstStyle/>
          <a:p>
            <a:pPr>
              <a:spcAft>
                <a:spcPts val="500"/>
              </a:spcAft>
              <a:defRPr sz="1200"/>
            </a:pPr>
            <a:r>
              <a:t>Kharif shows the highest average yield and production among the three seasons.</a:t>
            </a:r>
          </a:p>
          <a:p>
            <a:pPr>
              <a:spcAft>
                <a:spcPts val="500"/>
              </a:spcAft>
              <a:defRPr sz="1200"/>
            </a:pPr>
            <a:r>
              <a:t>Seasonal comparison helps identify stronger periods for agricultural performance.</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sp>
        <p:nvSpPr>
          <p:cNvPr id="31" name="TextBox 30"/>
          <p:cNvSpPr txBox="1"/>
          <p:nvPr/>
        </p:nvSpPr>
        <p:spPr>
          <a:xfrm>
            <a:off x="502920" y="228600"/>
            <a:ext cx="10058400" cy="502920"/>
          </a:xfrm>
          <a:prstGeom prst="rect">
            <a:avLst/>
          </a:prstGeom>
          <a:noFill/>
        </p:spPr>
        <p:txBody>
          <a:bodyPr wrap="none">
            <a:spAutoFit/>
          </a:bodyPr>
          <a:lstStyle/>
          <a:p>
            <a:pPr algn="ctr">
              <a:defRPr sz="2500" b="1"/>
            </a:pPr>
            <a:r>
              <a:t>RESULTS – 2 | Seasonal Economic Performance</a:t>
            </a:r>
          </a:p>
        </p:txBody>
      </p:sp>
      <p:pic>
        <p:nvPicPr>
          <p:cNvPr id="32" name="Picture 31" descr="profit.png"/>
          <p:cNvPicPr>
            <a:picLocks noChangeAspect="1"/>
          </p:cNvPicPr>
          <p:nvPr/>
        </p:nvPicPr>
        <p:blipFill>
          <a:blip r:embed="rId2"/>
          <a:stretch>
            <a:fillRect/>
          </a:stretch>
        </p:blipFill>
        <p:spPr>
          <a:xfrm>
            <a:off x="502920" y="960120"/>
            <a:ext cx="5303520" cy="3200400"/>
          </a:xfrm>
          <a:prstGeom prst="rect">
            <a:avLst/>
          </a:prstGeom>
        </p:spPr>
      </p:pic>
      <p:pic>
        <p:nvPicPr>
          <p:cNvPr id="33" name="Picture 32" descr="revenue.png"/>
          <p:cNvPicPr>
            <a:picLocks noChangeAspect="1"/>
          </p:cNvPicPr>
          <p:nvPr/>
        </p:nvPicPr>
        <p:blipFill>
          <a:blip r:embed="rId3"/>
          <a:stretch>
            <a:fillRect/>
          </a:stretch>
        </p:blipFill>
        <p:spPr>
          <a:xfrm>
            <a:off x="6080760" y="960120"/>
            <a:ext cx="5303520" cy="3200400"/>
          </a:xfrm>
          <a:prstGeom prst="rect">
            <a:avLst/>
          </a:prstGeom>
        </p:spPr>
      </p:pic>
      <p:sp>
        <p:nvSpPr>
          <p:cNvPr id="34" name="TextBox 33"/>
          <p:cNvSpPr txBox="1"/>
          <p:nvPr/>
        </p:nvSpPr>
        <p:spPr>
          <a:xfrm>
            <a:off x="502920" y="4160520"/>
            <a:ext cx="5303520" cy="320040"/>
          </a:xfrm>
          <a:prstGeom prst="rect">
            <a:avLst/>
          </a:prstGeom>
          <a:noFill/>
        </p:spPr>
        <p:txBody>
          <a:bodyPr wrap="none">
            <a:spAutoFit/>
          </a:bodyPr>
          <a:lstStyle/>
          <a:p>
            <a:pPr algn="ctr">
              <a:defRPr sz="1000" b="1"/>
            </a:pPr>
            <a:r>
              <a:t>Average Agricultural Profit by Season</a:t>
            </a:r>
          </a:p>
        </p:txBody>
      </p:sp>
      <p:sp>
        <p:nvSpPr>
          <p:cNvPr id="35" name="TextBox 34"/>
          <p:cNvSpPr txBox="1"/>
          <p:nvPr/>
        </p:nvSpPr>
        <p:spPr>
          <a:xfrm>
            <a:off x="6080760" y="4160520"/>
            <a:ext cx="5303520" cy="320040"/>
          </a:xfrm>
          <a:prstGeom prst="rect">
            <a:avLst/>
          </a:prstGeom>
          <a:noFill/>
        </p:spPr>
        <p:txBody>
          <a:bodyPr wrap="none">
            <a:spAutoFit/>
          </a:bodyPr>
          <a:lstStyle/>
          <a:p>
            <a:pPr algn="ctr">
              <a:defRPr sz="1000" b="1"/>
            </a:pPr>
            <a:r>
              <a:t>Average Agricultural Revenue by Season</a:t>
            </a:r>
          </a:p>
        </p:txBody>
      </p:sp>
      <p:sp>
        <p:nvSpPr>
          <p:cNvPr id="36" name="TextBox 35"/>
          <p:cNvSpPr txBox="1"/>
          <p:nvPr/>
        </p:nvSpPr>
        <p:spPr>
          <a:xfrm>
            <a:off x="731520" y="4617720"/>
            <a:ext cx="10058400" cy="1005840"/>
          </a:xfrm>
          <a:prstGeom prst="rect">
            <a:avLst/>
          </a:prstGeom>
          <a:noFill/>
        </p:spPr>
        <p:txBody>
          <a:bodyPr wrap="square">
            <a:spAutoFit/>
          </a:bodyPr>
          <a:lstStyle/>
          <a:p>
            <a:pPr>
              <a:spcAft>
                <a:spcPts val="500"/>
              </a:spcAft>
              <a:defRPr sz="1200"/>
            </a:pPr>
            <a:r>
              <a:t>Kharif has the highest average revenue and profit.</a:t>
            </a:r>
          </a:p>
          <a:p>
            <a:pPr>
              <a:spcAft>
                <a:spcPts val="500"/>
              </a:spcAft>
              <a:defRPr sz="1200"/>
            </a:pPr>
            <a:r>
              <a:t>Zaid shows negative average profit, indicating lower economic performance in this dataset.</a:t>
            </a:r>
          </a:p>
        </p:txBody>
      </p:sp>
    </p:spTree>
    <p:extLst>
      <p:ext uri="{BB962C8B-B14F-4D97-AF65-F5344CB8AC3E}">
        <p14:creationId xmlns:p14="http://schemas.microsoft.com/office/powerpoint/2010/main" val="3849627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sp>
        <p:nvSpPr>
          <p:cNvPr id="31" name="TextBox 30"/>
          <p:cNvSpPr txBox="1"/>
          <p:nvPr/>
        </p:nvSpPr>
        <p:spPr>
          <a:xfrm>
            <a:off x="502920" y="228600"/>
            <a:ext cx="10058400" cy="502920"/>
          </a:xfrm>
          <a:prstGeom prst="rect">
            <a:avLst/>
          </a:prstGeom>
          <a:noFill/>
        </p:spPr>
        <p:txBody>
          <a:bodyPr wrap="none">
            <a:spAutoFit/>
          </a:bodyPr>
          <a:lstStyle/>
          <a:p>
            <a:pPr algn="ctr">
              <a:defRPr sz="2500" b="1"/>
            </a:pPr>
            <a:r>
              <a:t>RESULTS – 3 | Crop and Resource Analysis</a:t>
            </a:r>
          </a:p>
        </p:txBody>
      </p:sp>
      <p:pic>
        <p:nvPicPr>
          <p:cNvPr id="32" name="Picture 31" descr="crop.png"/>
          <p:cNvPicPr>
            <a:picLocks noChangeAspect="1"/>
          </p:cNvPicPr>
          <p:nvPr/>
        </p:nvPicPr>
        <p:blipFill>
          <a:blip r:embed="rId2"/>
          <a:stretch>
            <a:fillRect/>
          </a:stretch>
        </p:blipFill>
        <p:spPr>
          <a:xfrm>
            <a:off x="320040" y="914400"/>
            <a:ext cx="3703320" cy="3246120"/>
          </a:xfrm>
          <a:prstGeom prst="rect">
            <a:avLst/>
          </a:prstGeom>
        </p:spPr>
      </p:pic>
      <p:pic>
        <p:nvPicPr>
          <p:cNvPr id="33" name="Picture 32" descr="irrigation.png"/>
          <p:cNvPicPr>
            <a:picLocks noChangeAspect="1"/>
          </p:cNvPicPr>
          <p:nvPr/>
        </p:nvPicPr>
        <p:blipFill>
          <a:blip r:embed="rId3"/>
          <a:stretch>
            <a:fillRect/>
          </a:stretch>
        </p:blipFill>
        <p:spPr>
          <a:xfrm>
            <a:off x="4069080" y="914400"/>
            <a:ext cx="3429000" cy="3246120"/>
          </a:xfrm>
          <a:prstGeom prst="rect">
            <a:avLst/>
          </a:prstGeom>
        </p:spPr>
      </p:pic>
      <p:pic>
        <p:nvPicPr>
          <p:cNvPr id="34" name="Picture 33" descr="resources.png"/>
          <p:cNvPicPr>
            <a:picLocks noChangeAspect="1"/>
          </p:cNvPicPr>
          <p:nvPr/>
        </p:nvPicPr>
        <p:blipFill>
          <a:blip r:embed="rId4"/>
          <a:stretch>
            <a:fillRect/>
          </a:stretch>
        </p:blipFill>
        <p:spPr>
          <a:xfrm>
            <a:off x="7543800" y="914400"/>
            <a:ext cx="3703320" cy="3246120"/>
          </a:xfrm>
          <a:prstGeom prst="rect">
            <a:avLst/>
          </a:prstGeom>
        </p:spPr>
      </p:pic>
      <p:sp>
        <p:nvSpPr>
          <p:cNvPr id="35" name="TextBox 34"/>
          <p:cNvSpPr txBox="1"/>
          <p:nvPr/>
        </p:nvSpPr>
        <p:spPr>
          <a:xfrm>
            <a:off x="320040" y="4160520"/>
            <a:ext cx="3703320" cy="320040"/>
          </a:xfrm>
          <a:prstGeom prst="rect">
            <a:avLst/>
          </a:prstGeom>
          <a:noFill/>
        </p:spPr>
        <p:txBody>
          <a:bodyPr wrap="none">
            <a:spAutoFit/>
          </a:bodyPr>
          <a:lstStyle/>
          <a:p>
            <a:pPr algn="ctr">
              <a:defRPr sz="1000" b="1"/>
            </a:pPr>
            <a:r>
              <a:t>Average Yield by Crop</a:t>
            </a:r>
          </a:p>
        </p:txBody>
      </p:sp>
      <p:sp>
        <p:nvSpPr>
          <p:cNvPr id="36" name="TextBox 35"/>
          <p:cNvSpPr txBox="1"/>
          <p:nvPr/>
        </p:nvSpPr>
        <p:spPr>
          <a:xfrm>
            <a:off x="4069080" y="4160520"/>
            <a:ext cx="3429000" cy="320040"/>
          </a:xfrm>
          <a:prstGeom prst="rect">
            <a:avLst/>
          </a:prstGeom>
          <a:noFill/>
        </p:spPr>
        <p:txBody>
          <a:bodyPr wrap="none">
            <a:spAutoFit/>
          </a:bodyPr>
          <a:lstStyle/>
          <a:p>
            <a:pPr algn="ctr">
              <a:defRPr sz="1000" b="1"/>
            </a:pPr>
            <a:r>
              <a:t>Irrigation Method Distribution</a:t>
            </a:r>
          </a:p>
        </p:txBody>
      </p:sp>
      <p:sp>
        <p:nvSpPr>
          <p:cNvPr id="37" name="TextBox 36"/>
          <p:cNvSpPr txBox="1"/>
          <p:nvPr/>
        </p:nvSpPr>
        <p:spPr>
          <a:xfrm>
            <a:off x="7543800" y="4160520"/>
            <a:ext cx="3703320" cy="320040"/>
          </a:xfrm>
          <a:prstGeom prst="rect">
            <a:avLst/>
          </a:prstGeom>
          <a:noFill/>
        </p:spPr>
        <p:txBody>
          <a:bodyPr wrap="none">
            <a:spAutoFit/>
          </a:bodyPr>
          <a:lstStyle/>
          <a:p>
            <a:pPr algn="ctr">
              <a:defRPr sz="1000" b="1"/>
            </a:pPr>
            <a:r>
              <a:t>Fertilizer &amp; Pesticide Usage</a:t>
            </a:r>
          </a:p>
        </p:txBody>
      </p:sp>
      <p:sp>
        <p:nvSpPr>
          <p:cNvPr id="38" name="TextBox 37"/>
          <p:cNvSpPr txBox="1"/>
          <p:nvPr/>
        </p:nvSpPr>
        <p:spPr>
          <a:xfrm>
            <a:off x="640080" y="4617720"/>
            <a:ext cx="10332720" cy="1005840"/>
          </a:xfrm>
          <a:prstGeom prst="rect">
            <a:avLst/>
          </a:prstGeom>
          <a:noFill/>
        </p:spPr>
        <p:txBody>
          <a:bodyPr wrap="square">
            <a:spAutoFit/>
          </a:bodyPr>
          <a:lstStyle/>
          <a:p>
            <a:pPr>
              <a:spcAft>
                <a:spcPts val="500"/>
              </a:spcAft>
              <a:defRPr sz="1100"/>
            </a:pPr>
            <a:r>
              <a:t>Crop-wise analysis identifies high-yield crops and resource-use patterns.</a:t>
            </a:r>
          </a:p>
          <a:p>
            <a:pPr>
              <a:spcAft>
                <a:spcPts val="500"/>
              </a:spcAft>
              <a:defRPr sz="1100"/>
            </a:pPr>
            <a:r>
              <a:t>Irrigation and input usage provide additional context for performance differences.</a:t>
            </a:r>
          </a:p>
        </p:txBody>
      </p:sp>
    </p:spTree>
    <p:extLst>
      <p:ext uri="{BB962C8B-B14F-4D97-AF65-F5344CB8AC3E}">
        <p14:creationId xmlns:p14="http://schemas.microsoft.com/office/powerpoint/2010/main" val="1698901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sp>
        <p:nvSpPr>
          <p:cNvPr id="31" name="TextBox 30"/>
          <p:cNvSpPr txBox="1"/>
          <p:nvPr/>
        </p:nvSpPr>
        <p:spPr>
          <a:xfrm>
            <a:off x="502920" y="228600"/>
            <a:ext cx="10058400" cy="502920"/>
          </a:xfrm>
          <a:prstGeom prst="rect">
            <a:avLst/>
          </a:prstGeom>
          <a:noFill/>
        </p:spPr>
        <p:txBody>
          <a:bodyPr wrap="none">
            <a:spAutoFit/>
          </a:bodyPr>
          <a:lstStyle/>
          <a:p>
            <a:pPr algn="ctr">
              <a:defRPr sz="2500" b="1"/>
            </a:pPr>
            <a:r>
              <a:t>RESULTS – 4 | Environmental, Water and Regional Analysis</a:t>
            </a:r>
          </a:p>
        </p:txBody>
      </p:sp>
      <p:pic>
        <p:nvPicPr>
          <p:cNvPr id="32" name="Picture 31" descr="environment.png"/>
          <p:cNvPicPr>
            <a:picLocks noChangeAspect="1"/>
          </p:cNvPicPr>
          <p:nvPr/>
        </p:nvPicPr>
        <p:blipFill>
          <a:blip r:embed="rId2"/>
          <a:stretch>
            <a:fillRect/>
          </a:stretch>
        </p:blipFill>
        <p:spPr>
          <a:xfrm>
            <a:off x="320040" y="914400"/>
            <a:ext cx="3703320" cy="3246120"/>
          </a:xfrm>
          <a:prstGeom prst="rect">
            <a:avLst/>
          </a:prstGeom>
        </p:spPr>
      </p:pic>
      <p:pic>
        <p:nvPicPr>
          <p:cNvPr id="33" name="Picture 32" descr="water.png"/>
          <p:cNvPicPr>
            <a:picLocks noChangeAspect="1"/>
          </p:cNvPicPr>
          <p:nvPr/>
        </p:nvPicPr>
        <p:blipFill>
          <a:blip r:embed="rId3"/>
          <a:stretch>
            <a:fillRect/>
          </a:stretch>
        </p:blipFill>
        <p:spPr>
          <a:xfrm>
            <a:off x="4069080" y="914400"/>
            <a:ext cx="3429000" cy="3246120"/>
          </a:xfrm>
          <a:prstGeom prst="rect">
            <a:avLst/>
          </a:prstGeom>
        </p:spPr>
      </p:pic>
      <p:pic>
        <p:nvPicPr>
          <p:cNvPr id="34" name="Picture 33" descr="state.png"/>
          <p:cNvPicPr>
            <a:picLocks noChangeAspect="1"/>
          </p:cNvPicPr>
          <p:nvPr/>
        </p:nvPicPr>
        <p:blipFill>
          <a:blip r:embed="rId4"/>
          <a:stretch>
            <a:fillRect/>
          </a:stretch>
        </p:blipFill>
        <p:spPr>
          <a:xfrm>
            <a:off x="7543800" y="914400"/>
            <a:ext cx="3703320" cy="3246120"/>
          </a:xfrm>
          <a:prstGeom prst="rect">
            <a:avLst/>
          </a:prstGeom>
        </p:spPr>
      </p:pic>
      <p:sp>
        <p:nvSpPr>
          <p:cNvPr id="35" name="TextBox 34"/>
          <p:cNvSpPr txBox="1"/>
          <p:nvPr/>
        </p:nvSpPr>
        <p:spPr>
          <a:xfrm>
            <a:off x="320040" y="4160520"/>
            <a:ext cx="3703320" cy="320040"/>
          </a:xfrm>
          <a:prstGeom prst="rect">
            <a:avLst/>
          </a:prstGeom>
          <a:noFill/>
        </p:spPr>
        <p:txBody>
          <a:bodyPr wrap="none">
            <a:spAutoFit/>
          </a:bodyPr>
          <a:lstStyle/>
          <a:p>
            <a:pPr algn="ctr">
              <a:defRPr sz="1000" b="1"/>
            </a:pPr>
            <a:r>
              <a:t>Environmental Conditions by Season</a:t>
            </a:r>
          </a:p>
        </p:txBody>
      </p:sp>
      <p:sp>
        <p:nvSpPr>
          <p:cNvPr id="36" name="TextBox 35"/>
          <p:cNvSpPr txBox="1"/>
          <p:nvPr/>
        </p:nvSpPr>
        <p:spPr>
          <a:xfrm>
            <a:off x="4069080" y="4160520"/>
            <a:ext cx="3429000" cy="320040"/>
          </a:xfrm>
          <a:prstGeom prst="rect">
            <a:avLst/>
          </a:prstGeom>
          <a:noFill/>
        </p:spPr>
        <p:txBody>
          <a:bodyPr wrap="none">
            <a:spAutoFit/>
          </a:bodyPr>
          <a:lstStyle/>
          <a:p>
            <a:pPr algn="ctr">
              <a:defRPr sz="1000" b="1"/>
            </a:pPr>
            <a:r>
              <a:t>Average Water Usage by Season</a:t>
            </a:r>
          </a:p>
        </p:txBody>
      </p:sp>
      <p:sp>
        <p:nvSpPr>
          <p:cNvPr id="37" name="TextBox 36"/>
          <p:cNvSpPr txBox="1"/>
          <p:nvPr/>
        </p:nvSpPr>
        <p:spPr>
          <a:xfrm>
            <a:off x="7543800" y="4160520"/>
            <a:ext cx="3703320" cy="320040"/>
          </a:xfrm>
          <a:prstGeom prst="rect">
            <a:avLst/>
          </a:prstGeom>
          <a:noFill/>
        </p:spPr>
        <p:txBody>
          <a:bodyPr wrap="none">
            <a:spAutoFit/>
          </a:bodyPr>
          <a:lstStyle/>
          <a:p>
            <a:pPr algn="ctr">
              <a:defRPr sz="1000" b="1"/>
            </a:pPr>
            <a:r>
              <a:t>Average Yield by State</a:t>
            </a:r>
          </a:p>
        </p:txBody>
      </p:sp>
      <p:sp>
        <p:nvSpPr>
          <p:cNvPr id="38" name="TextBox 37"/>
          <p:cNvSpPr txBox="1"/>
          <p:nvPr/>
        </p:nvSpPr>
        <p:spPr>
          <a:xfrm>
            <a:off x="640080" y="4617720"/>
            <a:ext cx="10332720" cy="1005840"/>
          </a:xfrm>
          <a:prstGeom prst="rect">
            <a:avLst/>
          </a:prstGeom>
          <a:noFill/>
        </p:spPr>
        <p:txBody>
          <a:bodyPr wrap="square">
            <a:spAutoFit/>
          </a:bodyPr>
          <a:lstStyle/>
          <a:p>
            <a:pPr>
              <a:spcAft>
                <a:spcPts val="500"/>
              </a:spcAft>
              <a:defRPr sz="1100"/>
            </a:pPr>
            <a:r>
              <a:t>Rainfall, temperature and humidity vary by season and affect farming conditions.</a:t>
            </a:r>
          </a:p>
          <a:p>
            <a:pPr>
              <a:spcAft>
                <a:spcPts val="500"/>
              </a:spcAft>
              <a:defRPr sz="1100"/>
            </a:pPr>
            <a:r>
              <a:t>Water-use and state-wise comparisons support resource and regional planning.</a:t>
            </a:r>
          </a:p>
        </p:txBody>
      </p:sp>
    </p:spTree>
    <p:extLst>
      <p:ext uri="{BB962C8B-B14F-4D97-AF65-F5344CB8AC3E}">
        <p14:creationId xmlns:p14="http://schemas.microsoft.com/office/powerpoint/2010/main" val="1903979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sp>
        <p:nvSpPr>
          <p:cNvPr id="31" name="TextBox 30"/>
          <p:cNvSpPr txBox="1"/>
          <p:nvPr/>
        </p:nvSpPr>
        <p:spPr>
          <a:xfrm>
            <a:off x="502920" y="228600"/>
            <a:ext cx="10058400" cy="502920"/>
          </a:xfrm>
          <a:prstGeom prst="rect">
            <a:avLst/>
          </a:prstGeom>
          <a:noFill/>
        </p:spPr>
        <p:txBody>
          <a:bodyPr wrap="none">
            <a:spAutoFit/>
          </a:bodyPr>
          <a:lstStyle/>
          <a:p>
            <a:pPr algn="ctr">
              <a:defRPr sz="2500" b="1"/>
            </a:pPr>
            <a:r>
              <a:t>RESULTS – 5 | Correlation, Outliers and Key Insights</a:t>
            </a:r>
          </a:p>
        </p:txBody>
      </p:sp>
      <p:pic>
        <p:nvPicPr>
          <p:cNvPr id="32" name="Picture 31" descr="corr.png"/>
          <p:cNvPicPr>
            <a:picLocks noChangeAspect="1"/>
          </p:cNvPicPr>
          <p:nvPr/>
        </p:nvPicPr>
        <p:blipFill>
          <a:blip r:embed="rId2"/>
          <a:stretch>
            <a:fillRect/>
          </a:stretch>
        </p:blipFill>
        <p:spPr>
          <a:xfrm>
            <a:off x="320040" y="914400"/>
            <a:ext cx="6400800" cy="3794760"/>
          </a:xfrm>
          <a:prstGeom prst="rect">
            <a:avLst/>
          </a:prstGeom>
        </p:spPr>
      </p:pic>
      <p:pic>
        <p:nvPicPr>
          <p:cNvPr id="33" name="Picture 32" descr="outlier.png"/>
          <p:cNvPicPr>
            <a:picLocks noChangeAspect="1"/>
          </p:cNvPicPr>
          <p:nvPr/>
        </p:nvPicPr>
        <p:blipFill>
          <a:blip r:embed="rId3"/>
          <a:stretch>
            <a:fillRect/>
          </a:stretch>
        </p:blipFill>
        <p:spPr>
          <a:xfrm>
            <a:off x="6812280" y="914400"/>
            <a:ext cx="4480560" cy="2926080"/>
          </a:xfrm>
          <a:prstGeom prst="rect">
            <a:avLst/>
          </a:prstGeom>
        </p:spPr>
      </p:pic>
      <p:sp>
        <p:nvSpPr>
          <p:cNvPr id="34" name="TextBox 33"/>
          <p:cNvSpPr txBox="1"/>
          <p:nvPr/>
        </p:nvSpPr>
        <p:spPr>
          <a:xfrm>
            <a:off x="6903720" y="3886200"/>
            <a:ext cx="4297680" cy="1554480"/>
          </a:xfrm>
          <a:prstGeom prst="rect">
            <a:avLst/>
          </a:prstGeom>
          <a:noFill/>
        </p:spPr>
        <p:txBody>
          <a:bodyPr wrap="square">
            <a:spAutoFit/>
          </a:bodyPr>
          <a:lstStyle/>
          <a:p>
            <a:pPr>
              <a:spcAft>
                <a:spcPts val="500"/>
              </a:spcAft>
              <a:defRPr sz="1000"/>
            </a:pPr>
            <a:r>
              <a:t>Best yield season: Kharif (5.63 tonnes/ha).</a:t>
            </a:r>
          </a:p>
          <a:p>
            <a:pPr>
              <a:spcAft>
                <a:spcPts val="500"/>
              </a:spcAft>
              <a:defRPr sz="1000"/>
            </a:pPr>
            <a:r>
              <a:t>Best production season: Kharif (46.31 tonnes average).</a:t>
            </a:r>
          </a:p>
          <a:p>
            <a:pPr>
              <a:spcAft>
                <a:spcPts val="500"/>
              </a:spcAft>
              <a:defRPr sz="1000"/>
            </a:pPr>
            <a:r>
              <a:t>Best profit season: Kharif (₹178,915 average).</a:t>
            </a:r>
          </a:p>
          <a:p>
            <a:pPr>
              <a:spcAft>
                <a:spcPts val="500"/>
              </a:spcAft>
              <a:defRPr sz="1000"/>
            </a:pPr>
            <a:r>
              <a:t>Best-yield crop: Sugarcane | Most-profitable crop: Sugarcane.</a:t>
            </a:r>
          </a:p>
          <a:p>
            <a:pPr>
              <a:spcAft>
                <a:spcPts val="500"/>
              </a:spcAft>
              <a:defRPr sz="1000"/>
            </a:pPr>
            <a:r>
              <a:t>Unusual yield records detected: 302.</a:t>
            </a:r>
          </a:p>
        </p:txBody>
      </p:sp>
    </p:spTree>
    <p:extLst>
      <p:ext uri="{BB962C8B-B14F-4D97-AF65-F5344CB8AC3E}">
        <p14:creationId xmlns:p14="http://schemas.microsoft.com/office/powerpoint/2010/main" val="14215222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744400"/>
            <a:ext cx="5354024" cy="960393"/>
          </a:xfrm>
        </p:spPr>
        <p:txBody>
          <a:bodyPr>
            <a:normAutofit/>
          </a:bodyPr>
          <a:lstStyle/>
          <a:p>
            <a:r>
              <a:rPr lang="en-IN" sz="4000"/>
              <a:t>Future scope</a:t>
            </a: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24" name="TextBox 23"/>
          <p:cNvSpPr txBox="1"/>
          <p:nvPr/>
        </p:nvSpPr>
        <p:spPr>
          <a:xfrm>
            <a:off x="123645" y="1713781"/>
            <a:ext cx="10058400" cy="4114800"/>
          </a:xfrm>
          <a:prstGeom prst="rect">
            <a:avLst/>
          </a:prstGeom>
          <a:noFill/>
        </p:spPr>
        <p:txBody>
          <a:bodyPr wrap="square">
            <a:spAutoFit/>
          </a:bodyPr>
          <a:lstStyle/>
          <a:p>
            <a:pPr>
              <a:defRPr sz="2200"/>
            </a:pPr>
            <a:r>
              <a:t>• Add real-time weather and market-price data</a:t>
            </a:r>
          </a:p>
          <a:p>
            <a:pPr>
              <a:defRPr sz="2200"/>
            </a:pPr>
            <a:r>
              <a:t>• Build predictive models for crop yield and profitability</a:t>
            </a:r>
          </a:p>
          <a:p>
            <a:pPr>
              <a:defRPr sz="2200"/>
            </a:pPr>
            <a:r>
              <a:t>• Provide region-specific crop recommendations</a:t>
            </a:r>
          </a:p>
          <a:p>
            <a:pPr>
              <a:defRPr sz="2200"/>
            </a:pPr>
            <a:r>
              <a:t>• Develop interactive dashboards for decision support</a:t>
            </a:r>
          </a:p>
          <a:p>
            <a:pPr>
              <a:defRPr sz="2200"/>
            </a:pPr>
            <a:r>
              <a:t>• Extend the analysis to multiple years for stronger trend detection</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sp>
        <p:nvSpPr>
          <p:cNvPr id="3" name="TextBox 2">
            <a:extLst>
              <a:ext uri="{FF2B5EF4-FFF2-40B4-BE49-F238E27FC236}">
                <a16:creationId xmlns:a16="http://schemas.microsoft.com/office/drawing/2014/main" id="{5F0B37E4-66B1-8633-7266-68B321742757}"/>
              </a:ext>
            </a:extLst>
          </p:cNvPr>
          <p:cNvSpPr txBox="1"/>
          <p:nvPr/>
        </p:nvSpPr>
        <p:spPr>
          <a:xfrm>
            <a:off x="671747" y="1440320"/>
            <a:ext cx="9001289" cy="646331"/>
          </a:xfrm>
          <a:prstGeom prst="rect">
            <a:avLst/>
          </a:prstGeom>
          <a:noFill/>
        </p:spPr>
        <p:txBody>
          <a:bodyPr wrap="square" lIns="91440" tIns="45720" rIns="91440" bIns="45720" anchor="t">
            <a:spAutoFit/>
          </a:bodyPr>
          <a:lstStyle/>
          <a:p>
            <a:r>
              <a:rPr lang="en-US"/>
              <a:t>GitHub Repository: </a:t>
            </a:r>
            <a:r>
              <a:rPr lang="en-US">
                <a:ea typeface="+mn-lt"/>
                <a:cs typeface="+mn-lt"/>
              </a:rPr>
              <a:t>https://github.com/Geetha245/Seasonal-Agriculture-Performance-Analysis.git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10019161" cy="496470"/>
          </a:xfrm>
        </p:spPr>
        <p:txBody>
          <a:bodyPr>
            <a:normAutofit fontScale="90000"/>
          </a:bodyPr>
          <a:lstStyle/>
          <a:p>
            <a:r>
              <a:rPr lang="en-IN" sz="3200"/>
              <a:t>VOIS Course completion certificate - </a:t>
            </a:r>
            <a:br>
              <a:rPr lang="en-IN" sz="3200"/>
            </a:br>
            <a:r>
              <a:rPr lang="en-IN" sz="3200"/>
              <a:t>Course name- Data Visualization </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a:p>
        </p:txBody>
      </p:sp>
      <p:pic>
        <p:nvPicPr>
          <p:cNvPr id="7" name="Picture 6">
            <a:extLst>
              <a:ext uri="{FF2B5EF4-FFF2-40B4-BE49-F238E27FC236}">
                <a16:creationId xmlns:a16="http://schemas.microsoft.com/office/drawing/2014/main" id="{FFE74E22-CCEF-1D09-6339-015EFC373165}"/>
              </a:ext>
            </a:extLst>
          </p:cNvPr>
          <p:cNvPicPr>
            <a:picLocks noChangeAspect="1"/>
          </p:cNvPicPr>
          <p:nvPr/>
        </p:nvPicPr>
        <p:blipFill>
          <a:blip r:embed="rId3"/>
          <a:stretch>
            <a:fillRect/>
          </a:stretch>
        </p:blipFill>
        <p:spPr>
          <a:xfrm>
            <a:off x="676545" y="1280304"/>
            <a:ext cx="7488987" cy="5188790"/>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71af3243-3dd4-4a8d-8c0d-dd76da1f02a5"/>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B19EB750-A6DA-4BE8-B87B-FC499FE73360}">
  <ds:schemaRefs>
    <ds:schemaRef ds:uri="16c05727-aa75-4e4a-9b5f-8a80a1165891"/>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14</Slides>
  <Notes>1</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 Seasonal Agriculture Performance Analysis</vt:lpstr>
      <vt:lpstr>PROBLEM  STATEMENT</vt:lpstr>
      <vt:lpstr>Project Description This project analyzes agricultural performance across different seasons using a structured dataset.
The analysis covers crop yield, production, revenue, profit, resource usage, irrigation practices and environmental conditions.
Python, Pandas, NumPy, Matplotlib and Seaborn are used for data cleaning, exploration, statistical analysis and visualization.
The objective is to identify seasonal patterns, compare performance, detect unusual observations and support better agricultural planning.  </vt:lpstr>
      <vt:lpstr>WHO ARE THE END USERS?</vt:lpstr>
      <vt:lpstr>Technology Used</vt:lpstr>
      <vt:lpstr>PowerPoint Presentation</vt:lpstr>
      <vt:lpstr>PowerPoint Presentation</vt:lpstr>
      <vt:lpstr>PowerPoint Presentation</vt:lpstr>
      <vt:lpstr>PowerPoint Presentation</vt:lpstr>
      <vt:lpstr>PowerPoint Presentation</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revision>11</cp:revision>
  <dcterms:created xsi:type="dcterms:W3CDTF">2021-07-11T13:13:15Z</dcterms:created>
  <dcterms:modified xsi:type="dcterms:W3CDTF">2026-09-09T19:49:16Z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